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411480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31520"/>
            <a:ext cx="2926080" cy="365760"/>
          </a:xfrm>
          <a:prstGeom prst="roundRect">
            <a:avLst/>
          </a:prstGeom>
          <a:solidFill>
            <a:srgbClr val="2D2419"/>
          </a:solidFill>
          <a:ln w="127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Arial"/>
              </a:defRPr>
            </a:pPr>
            <a:r>
              <a:t>EXECUTIVE STRATEGIC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DFBF7"/>
                </a:solidFill>
                <a:latin typeface="Arial"/>
              </a:defRPr>
            </a:pPr>
            <a:r>
              <a:t>Memory Claude (메모리 클로드)</a:t>
            </a:r>
          </a:p>
          <a:p>
            <a:pPr>
              <a:spcAft>
                <a:spcPts val="1400"/>
              </a:spcAft>
              <a:defRPr sz="1800">
                <a:solidFill>
                  <a:srgbClr val="B45309"/>
                </a:solidFill>
                <a:latin typeface="Arial"/>
              </a:defRPr>
            </a:pPr>
            <a:r>
              <a:t>빅테크 AI Capex 흐름 추적 &amp; 2026~2028 미래 반도체 가치사슬 인텔리전스</a:t>
            </a:r>
          </a:p>
          <a:p>
            <a:pPr>
              <a:defRPr sz="1400" i="1">
                <a:solidFill>
                  <a:srgbClr val="A1A1AA"/>
                </a:solidFill>
                <a:latin typeface="Arial"/>
              </a:defRPr>
            </a:pPr>
            <a:r>
              <a:t>“ 하이퍼스케일러의 천문학적 자본 투자가 결정짓는 2026~2028 반도체 패권 예측 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3291840" cy="109728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5074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1717A"/>
                </a:solidFill>
                <a:latin typeface="Arial"/>
              </a:defRPr>
            </a:pPr>
            <a:r>
              <a:t>제안 대상</a:t>
            </a:r>
          </a:p>
          <a:p>
            <a:pPr>
              <a:defRPr sz="1300" b="1">
                <a:solidFill>
                  <a:srgbClr val="FDFBF7"/>
                </a:solidFill>
                <a:latin typeface="Arial"/>
              </a:defRPr>
            </a:pPr>
            <a:r>
              <a:t>경영진 / AI 투자전략 심의위원회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937760"/>
            <a:ext cx="3291840" cy="109728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5074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1717A"/>
                </a:solidFill>
                <a:latin typeface="Arial"/>
              </a:defRPr>
            </a:pPr>
            <a:r>
              <a:t>제안 부서</a:t>
            </a:r>
          </a:p>
          <a:p>
            <a:pPr>
              <a:defRPr sz="1300" b="1">
                <a:solidFill>
                  <a:srgbClr val="FDFBF7"/>
                </a:solidFill>
                <a:latin typeface="Arial"/>
              </a:defRPr>
            </a:pPr>
            <a:r>
              <a:t>Executive Strategy Research 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937760"/>
            <a:ext cx="3291840" cy="109728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5074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1717A"/>
                </a:solidFill>
                <a:latin typeface="Arial"/>
              </a:defRPr>
            </a:pPr>
            <a:r>
              <a:t>문서 버전</a:t>
            </a:r>
          </a:p>
          <a:p>
            <a:pPr>
              <a:defRPr sz="1300" b="1">
                <a:solidFill>
                  <a:srgbClr val="FDFBF7"/>
                </a:solidFill>
                <a:latin typeface="Arial"/>
              </a:defRPr>
            </a:pPr>
            <a:r>
              <a:t>Proposal v2.0 |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2D2419"/>
          </a:solidFill>
          <a:ln w="127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Arial"/>
              </a:defRPr>
            </a:pPr>
            <a:r>
              <a:t>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DFBF7"/>
                </a:solidFill>
                <a:latin typeface="Arial"/>
              </a:defRPr>
            </a:pPr>
            <a:r>
              <a:t>추진 배경 및 핵심 질문 (Strategic Background)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31089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5A93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DFBF7"/>
                </a:solidFill>
                <a:latin typeface="Arial"/>
              </a:defRPr>
            </a:pPr>
            <a:r>
              <a:t>단기 소음과 본질의 괴리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매일 쏟아지는 뉴스에 가려져, 글로벌 빅테크의 실제 Capex 집행액과 공급 계약의 본질 파악 곤란.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83280" cy="31089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5A93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DFBF7"/>
                </a:solidFill>
                <a:latin typeface="Arial"/>
              </a:defRPr>
            </a:pPr>
            <a:r>
              <a:t>자본 흐름의 연결고리 단절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프론티어 모델 랩 ➔ 하이퍼스케일러 ➔ GPU/파운드리 ➔ 메모리/광통신으로 이어지는 자본 전이 경로 불투명.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383280" cy="310896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5A93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37744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DFBF7"/>
                </a:solidFill>
                <a:latin typeface="Arial"/>
              </a:defRPr>
            </a:pPr>
            <a:r>
              <a:t>중장기(2026~2028) 예측 부재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차세대 블랙웰/루빈 가속기 및 HBM4 전환 시점에 대한 정량적이고 일관된 장기 시나리오 부족.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3383280" cy="11887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1717A"/>
                </a:solidFill>
                <a:latin typeface="Arial"/>
              </a:defRPr>
            </a:pPr>
            <a:r>
              <a:t>글로벌 AI Capex</a:t>
            </a:r>
          </a:p>
          <a:p>
            <a:pPr>
              <a:defRPr sz="1800" b="1">
                <a:solidFill>
                  <a:srgbClr val="B45309"/>
                </a:solidFill>
                <a:latin typeface="Arial"/>
              </a:defRPr>
            </a:pPr>
            <a:r>
              <a:t>$250B+ 연간 규모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5120640"/>
            <a:ext cx="3383280" cy="11887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257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1717A"/>
                </a:solidFill>
                <a:latin typeface="Arial"/>
              </a:defRPr>
            </a:pPr>
            <a:r>
              <a:t>핵심 추적 기업군</a:t>
            </a:r>
          </a:p>
          <a:p>
            <a:pPr>
              <a:defRPr sz="1800" b="1">
                <a:solidFill>
                  <a:srgbClr val="B45309"/>
                </a:solidFill>
                <a:latin typeface="Arial"/>
              </a:defRPr>
            </a:pPr>
            <a:r>
              <a:t>7대 밸류체인 레이어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5120640"/>
            <a:ext cx="3383280" cy="11887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5257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1717A"/>
                </a:solidFill>
                <a:latin typeface="Arial"/>
              </a:defRPr>
            </a:pPr>
            <a:r>
              <a:t>예측 시계 (Horizon)</a:t>
            </a:r>
          </a:p>
          <a:p>
            <a:pPr>
              <a:defRPr sz="1800" b="1">
                <a:solidFill>
                  <a:srgbClr val="B45309"/>
                </a:solidFill>
                <a:latin typeface="Arial"/>
              </a:defRPr>
            </a:pPr>
            <a:r>
              <a:t>2026 ~ 2028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286000" cy="320040"/>
          </a:xfrm>
          <a:prstGeom prst="roundRect">
            <a:avLst/>
          </a:prstGeom>
          <a:solidFill>
            <a:srgbClr val="2D2419"/>
          </a:solidFill>
          <a:ln w="127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Arial"/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DFBF7"/>
                </a:solidFill>
                <a:latin typeface="Arial"/>
              </a:defRPr>
            </a:pPr>
            <a:r>
              <a:t>전략 솔루션 및 가치사슬 구조 (Solution &amp; Value Chain)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7315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DFBF7"/>
                </a:solidFill>
                <a:latin typeface="Arial"/>
              </a:defRPr>
            </a:pPr>
            <a:r>
              <a:t>정량 실적(Earnings/Capex), 대규모 공급 계약(Contracts), 팹 캐파, 기술 마일스톤을 7대 레이어로 구조화하여 2028년까지의 현금 흐름과 기술 병목을 추적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337560" cy="292608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3337560" cy="54864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5A93C"/>
                </a:solidFill>
                <a:latin typeface="Arial"/>
              </a:defRPr>
            </a:pPr>
            <a:r>
              <a:t>AI Frontier &amp; Hyperscalers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OpenAI, Anthropic 수요 ➔ MSFT, GOOGL, META, AMZN, ORCL의 초대형 Capex 파이프라인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468880"/>
            <a:ext cx="3337560" cy="292608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468880"/>
            <a:ext cx="3337560" cy="54864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56032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5A93C"/>
                </a:solidFill>
                <a:latin typeface="Arial"/>
              </a:defRPr>
            </a:pPr>
            <a:r>
              <a:t>AI Computing &amp; Foundry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200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NVIDIA(Blackwell/Rubin) ➔ TSMC(CoWoS/A16 선단공정), ASML(High-NA EUV) 독점 공급망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2468880"/>
            <a:ext cx="3337560" cy="292608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4" y="2468880"/>
            <a:ext cx="3337560" cy="54864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56032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5A93C"/>
                </a:solidFill>
                <a:latin typeface="Arial"/>
              </a:defRPr>
            </a:pPr>
            <a:r>
              <a:t>Memory &amp; Optical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2004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SK하이닉스/삼성전자(HBM3E/4) ➔ Marvell, Coherent(CPO/광트랜시버) ➔ 전력·인프라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45309"/>
                </a:solidFill>
                <a:latin typeface="Arial"/>
              </a:defRPr>
            </a:pPr>
            <a:r>
              <a:t>CORE TECHNOLOGY STACK:</a:t>
            </a:r>
          </a:p>
          <a:p>
            <a:pPr>
              <a:defRPr sz="1200">
                <a:solidFill>
                  <a:srgbClr val="FDFBF7"/>
                </a:solidFill>
                <a:latin typeface="Arial"/>
              </a:defRPr>
            </a:pPr>
            <a:r>
              <a:t>Structured Value-Chain DB, Currency Normalization Engine, Milestone Scenario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2D2419"/>
          </a:solidFill>
          <a:ln w="127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Arial"/>
              </a:defRPr>
            </a:pPr>
            <a:r>
              <a:t>KEY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DFBF7"/>
                </a:solidFill>
                <a:latin typeface="Arial"/>
              </a:defRPr>
            </a:pPr>
            <a:r>
              <a:t>핵심 기능 및 분석 모듈 (Core Capabilities)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21031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0312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DFBF7"/>
                </a:solidFill>
                <a:latin typeface="Arial"/>
              </a:defRPr>
            </a:pPr>
            <a:r>
              <a:t>FEATURE 01 : Hyperscaler Capex Tracker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빅테크 5사의 분기별 실적 공시(10-Q/K)를 기반으로 AI 인프라 자본지출 추이 완벽 정량화.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21031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91072" y="1645920"/>
            <a:ext cx="109728" cy="2103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2880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DFBF7"/>
                </a:solidFill>
                <a:latin typeface="Arial"/>
              </a:defRPr>
            </a:pPr>
            <a:r>
              <a:t>FEATURE 02 : Multi-Tier Contract Mapping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가속기-파운드리-메모리 간 수십조 단위 대규모 공급/투자 계약 체결 현황 구조화 적재.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66360" cy="21031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9728" cy="210312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DFBF7"/>
                </a:solidFill>
                <a:latin typeface="Arial"/>
              </a:defRPr>
            </a:pPr>
            <a:r>
              <a:t>FEATURE 03 : 2026~2028 Milestone Scenario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차세대 아키텍처(Rubin, HBM4, 2nm) 도입 시기별 캐파 잠식률 및 단가(ASP) 전망 시뮬레이션.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4114800"/>
            <a:ext cx="5166360" cy="210312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4114800"/>
            <a:ext cx="109728" cy="2103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42976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DFBF7"/>
                </a:solidFill>
                <a:latin typeface="Arial"/>
              </a:defRPr>
            </a:pPr>
            <a:r>
              <a:t>FEATURE 04 : FX Conversion &amp; Unified Currency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USD, TWD, KRW, EUR 등 이종 통화 실적을 단일 기준 통화로 환산하여 왜곡 없는 글로벌 비교.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2D2419"/>
          </a:solidFill>
          <a:ln w="127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93C"/>
                </a:solidFill>
                <a:latin typeface="Arial"/>
              </a:defRPr>
            </a:pPr>
            <a:r>
              <a:t>VALUE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DFBF7"/>
                </a:solidFill>
                <a:latin typeface="Arial"/>
              </a:defRPr>
            </a:pPr>
            <a:r>
              <a:t>전략적 기대 효과 및 로드맵 (Strategic Impact &amp; Roadmap)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E5A93C"/>
                </a:solidFill>
                <a:latin typeface="Arial"/>
              </a:defRPr>
            </a:pPr>
            <a:r>
              <a:t>🎯 정량적 &amp; 정성적 기대 효과</a:t>
            </a:r>
          </a:p>
          <a:p>
            <a:pPr>
              <a:spcAft>
                <a:spcPts val="400"/>
              </a:spcAft>
              <a:defRPr sz="1300" b="1">
                <a:solidFill>
                  <a:srgbClr val="FDFBF7"/>
                </a:solidFill>
                <a:latin typeface="Arial"/>
              </a:defRPr>
            </a:pPr>
            <a:r>
              <a:t>✔ C-레벨 의사결정 고도화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   수백억 원대 자본 배치 및 투자 전략 수립 시 명확한 데이터 기반의 확신 제공.</a:t>
            </a:r>
          </a:p>
          <a:p>
            <a:pPr>
              <a:spcAft>
                <a:spcPts val="400"/>
              </a:spcAft>
              <a:defRPr sz="1300" b="1">
                <a:solidFill>
                  <a:srgbClr val="FDFBF7"/>
                </a:solidFill>
                <a:latin typeface="Arial"/>
              </a:defRPr>
            </a:pPr>
            <a:r>
              <a:t>✔ 공급망 병목의 사전 식별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   HBM, CoWoS, 전력 인프라 등 밸류체인 단계별 병목을 선제적으로 감지하여 리스크 헷지.</a:t>
            </a:r>
          </a:p>
          <a:p>
            <a:pPr>
              <a:spcAft>
                <a:spcPts val="400"/>
              </a:spcAft>
              <a:defRPr sz="1300" b="1">
                <a:solidFill>
                  <a:srgbClr val="FDFBF7"/>
                </a:solidFill>
                <a:latin typeface="Arial"/>
              </a:defRPr>
            </a:pPr>
            <a:r>
              <a:t>✔ 독보적 인텔리전스 자산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   경쟁사가 모방하기 힘든 7대 밸류체인 계층별 구조화 데이터베이스 영구 축적.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B45309"/>
                </a:solidFill>
                <a:latin typeface="Arial"/>
              </a:defRPr>
            </a:pPr>
            <a:r>
              <a:t>🚀 단계별 추진 로드맵 (Milestones)</a:t>
            </a:r>
          </a:p>
          <a:p>
            <a:pPr>
              <a:spcAft>
                <a:spcPts val="400"/>
              </a:spcAft>
              <a:defRPr sz="1300" b="1">
                <a:solidFill>
                  <a:srgbClr val="FDFBF7"/>
                </a:solidFill>
                <a:latin typeface="Arial"/>
              </a:defRPr>
            </a:pPr>
            <a:r>
              <a:t>[2026.10] Phase 1: 밸류체인 DB 확충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   15대 핵심 기업 실적 및 계약 데이터베이스 정밀 검증</a:t>
            </a:r>
          </a:p>
          <a:p>
            <a:pPr>
              <a:spcAft>
                <a:spcPts val="400"/>
              </a:spcAft>
              <a:defRPr sz="1300" b="1">
                <a:solidFill>
                  <a:srgbClr val="FDFBF7"/>
                </a:solidFill>
                <a:latin typeface="Arial"/>
              </a:defRPr>
            </a:pPr>
            <a:r>
              <a:t>[2026.11] Phase 2: 2028 시뮬레이터 완성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   HBM4/CPO 상용화에 따른 제조사별 매출 기여도 추정 로직 구현</a:t>
            </a:r>
          </a:p>
          <a:p>
            <a:pPr>
              <a:spcAft>
                <a:spcPts val="400"/>
              </a:spcAft>
              <a:defRPr sz="1300" b="1">
                <a:solidFill>
                  <a:srgbClr val="FDFBF7"/>
                </a:solidFill>
                <a:latin typeface="Arial"/>
              </a:defRPr>
            </a:pPr>
            <a:r>
              <a:t>[2026.12] Phase 3: 전략 인텔리전스 리포트 자동화</a:t>
            </a:r>
          </a:p>
          <a:p>
            <a:pPr>
              <a:spcAft>
                <a:spcPts val="1200"/>
              </a:spcAft>
              <a:defRPr sz="1100">
                <a:solidFill>
                  <a:srgbClr val="A1A1AA"/>
                </a:solidFill>
                <a:latin typeface="Arial"/>
              </a:defRPr>
            </a:pPr>
            <a:r>
              <a:t>   경영진 전용 월간 반도체 밸류체인 브리프 발간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